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utograph" panose="020B0604020202020204" charset="-79"/>
      <p:regular r:id="rId17"/>
    </p:embeddedFont>
    <p:embeddedFont>
      <p:font typeface="Autograph Bold" panose="020B0604020202020204" charset="-79"/>
      <p:regular r:id="rId18"/>
    </p:embeddedFont>
    <p:embeddedFont>
      <p:font typeface="TT Interphases" panose="020B0604020202020204" charset="0"/>
      <p:regular r:id="rId19"/>
    </p:embeddedFont>
    <p:embeddedFont>
      <p:font typeface="TT Interphases Bold" panose="020B0604020202020204" charset="0"/>
      <p:regular r:id="rId20"/>
    </p:embeddedFont>
    <p:embeddedFont>
      <p:font typeface="TT Interphases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6048" y="219386"/>
            <a:ext cx="17435905" cy="287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75"/>
              </a:lnSpc>
            </a:pPr>
            <a:r>
              <a:rPr lang="en-US" sz="8125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CLOUD PIPE LINE ENGINEERING-AMAZON WEB SERVICE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907113"/>
            <a:ext cx="16419573" cy="2814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9"/>
              </a:lnSpc>
            </a:pPr>
            <a:r>
              <a:rPr lang="en-US" sz="3177" b="1">
                <a:solidFill>
                  <a:srgbClr val="000000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Objective:</a:t>
            </a:r>
            <a:r>
              <a:rPr lang="en-US" sz="3177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 The objective of this project is to design and implement a scalable end-to-end data engineering pipeline that extracts raw data from a GitHub repository, processes and transforms it using a Python ETL script, stores structured data in PostgreSQL (Amazon RDS) and unstructured data in MongoDB Atlas, archives raw data in Amazon S3 as a data lake, and delivers meaningful insights through an interactive Streamlit dashboard..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70954" y="8386510"/>
            <a:ext cx="9102447" cy="994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58"/>
              </a:lnSpc>
            </a:pPr>
            <a:r>
              <a:rPr lang="en-US" sz="2827" b="1">
                <a:solidFill>
                  <a:srgbClr val="000000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by</a:t>
            </a:r>
          </a:p>
          <a:p>
            <a:pPr algn="ctr">
              <a:lnSpc>
                <a:spcPts val="3958"/>
              </a:lnSpc>
              <a:spcBef>
                <a:spcPct val="0"/>
              </a:spcBef>
            </a:pPr>
            <a:r>
              <a:rPr lang="en-US" sz="2827" b="1">
                <a:solidFill>
                  <a:srgbClr val="000000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P Shesha Shayana Reddy, Venu kamatam and Dinesh Karthik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02575" y="0"/>
            <a:ext cx="9131027" cy="10287000"/>
          </a:xfrm>
          <a:custGeom>
            <a:avLst/>
            <a:gdLst/>
            <a:ahLst/>
            <a:cxnLst/>
            <a:rect l="l" t="t" r="r" b="b"/>
            <a:pathLst>
              <a:path w="9131027" h="10287000">
                <a:moveTo>
                  <a:pt x="0" y="0"/>
                </a:moveTo>
                <a:lnTo>
                  <a:pt x="9131027" y="0"/>
                </a:lnTo>
                <a:lnTo>
                  <a:pt x="913102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443" r="-27159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8794" y="3494722"/>
            <a:ext cx="16087300" cy="4408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6555" lvl="1" indent="-343278" algn="just">
              <a:lnSpc>
                <a:spcPts val="4420"/>
              </a:lnSpc>
              <a:buFont typeface="Arial"/>
              <a:buChar char="•"/>
            </a:pPr>
            <a:r>
              <a:rPr lang="en-US" sz="317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Source:</a:t>
            </a:r>
            <a:r>
              <a:rPr lang="en-US" sz="317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Raw JSON metadata and transcript files ingested from a GitHub Repository.</a:t>
            </a:r>
          </a:p>
          <a:p>
            <a:pPr marL="686555" lvl="1" indent="-343278" algn="just">
              <a:lnSpc>
                <a:spcPts val="4420"/>
              </a:lnSpc>
              <a:buFont typeface="Arial"/>
              <a:buChar char="•"/>
            </a:pPr>
            <a:r>
              <a:rPr lang="en-US" sz="317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Data Lake:</a:t>
            </a:r>
            <a:r>
              <a:rPr lang="en-US" sz="317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Direct archival of raw files into an Amazon S3 Bucket for long-term storage and recovery.</a:t>
            </a:r>
          </a:p>
          <a:p>
            <a:pPr marL="686555" lvl="1" indent="-343278" algn="just">
              <a:lnSpc>
                <a:spcPts val="4420"/>
              </a:lnSpc>
              <a:buFont typeface="Arial"/>
              <a:buChar char="•"/>
            </a:pPr>
            <a:r>
              <a:rPr lang="en-US" sz="317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Challenge:</a:t>
            </a:r>
            <a:r>
              <a:rPr lang="en-US" sz="317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Handling massive volumes of text-heavy files with inconsistent naming formats.</a:t>
            </a:r>
          </a:p>
          <a:p>
            <a:pPr algn="just">
              <a:lnSpc>
                <a:spcPts val="4420"/>
              </a:lnSpc>
            </a:pPr>
            <a:endParaRPr lang="en-US" sz="3179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420"/>
              </a:lnSpc>
            </a:pPr>
            <a:endParaRPr lang="en-US" sz="3179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-188421" y="790575"/>
            <a:ext cx="18476421" cy="1748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7"/>
              </a:lnSpc>
            </a:pPr>
            <a:r>
              <a:rPr lang="en-US" sz="9926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Data Sourcing &amp; Archival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32290" y="2963212"/>
            <a:ext cx="12223420" cy="432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2510" lvl="1" indent="-336255" algn="just">
              <a:lnSpc>
                <a:spcPts val="4329"/>
              </a:lnSpc>
              <a:buFont typeface="Arial"/>
              <a:buChar char="•"/>
            </a:pPr>
            <a:r>
              <a:rPr lang="en-US" sz="3114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Parsing Logic:</a:t>
            </a:r>
            <a:r>
              <a:rPr lang="en-US" sz="311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Using Regular Expressions to extract 8-digit date codes and city identifiers from messy meeting IDs.</a:t>
            </a:r>
          </a:p>
          <a:p>
            <a:pPr marL="672510" lvl="1" indent="-336255" algn="just">
              <a:lnSpc>
                <a:spcPts val="4329"/>
              </a:lnSpc>
              <a:buFont typeface="Arial"/>
              <a:buChar char="•"/>
            </a:pPr>
            <a:r>
              <a:rPr lang="en-US" sz="3114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Validation:</a:t>
            </a:r>
            <a:r>
              <a:rPr lang="en-US" sz="311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Implementing </a:t>
            </a:r>
            <a:r>
              <a:rPr lang="en-US" sz="3114" i="1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os.walk</a:t>
            </a:r>
            <a:r>
              <a:rPr lang="en-US" sz="311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to physically verify that transcript files exist before processing.</a:t>
            </a:r>
          </a:p>
          <a:p>
            <a:pPr marL="672510" lvl="1" indent="-336255" algn="just">
              <a:lnSpc>
                <a:spcPts val="4329"/>
              </a:lnSpc>
              <a:buFont typeface="Arial"/>
              <a:buChar char="•"/>
            </a:pPr>
            <a:r>
              <a:rPr lang="en-US" sz="3114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Code Snippet:</a:t>
            </a:r>
          </a:p>
          <a:p>
            <a:pPr algn="just">
              <a:lnSpc>
                <a:spcPts val="4329"/>
              </a:lnSpc>
            </a:pPr>
            <a:endParaRPr lang="en-US" sz="3114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algn="just">
              <a:lnSpc>
                <a:spcPts val="4329"/>
              </a:lnSpc>
            </a:pPr>
            <a:endParaRPr lang="en-US" sz="3114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algn="just">
              <a:lnSpc>
                <a:spcPts val="4329"/>
              </a:lnSpc>
            </a:pPr>
            <a:endParaRPr lang="en-US" sz="3114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6177201"/>
            <a:ext cx="16230600" cy="2596896"/>
          </a:xfrm>
          <a:custGeom>
            <a:avLst/>
            <a:gdLst/>
            <a:ahLst/>
            <a:cxnLst/>
            <a:rect l="l" t="t" r="r" b="b"/>
            <a:pathLst>
              <a:path w="16230600" h="2596896">
                <a:moveTo>
                  <a:pt x="0" y="0"/>
                </a:moveTo>
                <a:lnTo>
                  <a:pt x="16230600" y="0"/>
                </a:lnTo>
                <a:lnTo>
                  <a:pt x="16230600" y="2596896"/>
                </a:lnTo>
                <a:lnTo>
                  <a:pt x="0" y="2596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796705" y="1425276"/>
            <a:ext cx="11628428" cy="1174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03"/>
              </a:lnSpc>
            </a:pPr>
            <a:r>
              <a:rPr lang="en-US" sz="8916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Text Cleaning &amp; Regex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23054" y="3438507"/>
            <a:ext cx="13333422" cy="4709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580" lvl="1" indent="-366790" algn="just">
              <a:lnSpc>
                <a:spcPts val="4722"/>
              </a:lnSpc>
              <a:buFont typeface="Arial"/>
              <a:buChar char="•"/>
            </a:pPr>
            <a:r>
              <a:rPr lang="en-US" sz="3397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Quantifying Meetings:</a:t>
            </a:r>
            <a:r>
              <a:rPr lang="en-US" sz="33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Generating numerical insights such as </a:t>
            </a:r>
            <a:r>
              <a:rPr lang="en-US" sz="3397" i="1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speaker_count</a:t>
            </a:r>
            <a:r>
              <a:rPr lang="en-US" sz="33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and </a:t>
            </a:r>
            <a:r>
              <a:rPr lang="en-US" sz="3397" i="1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word_count</a:t>
            </a:r>
            <a:r>
              <a:rPr lang="en-US" sz="33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from raw JSON.</a:t>
            </a:r>
          </a:p>
          <a:p>
            <a:pPr marL="733580" lvl="1" indent="-366790" algn="just">
              <a:lnSpc>
                <a:spcPts val="4722"/>
              </a:lnSpc>
              <a:buFont typeface="Arial"/>
              <a:buChar char="•"/>
            </a:pPr>
            <a:r>
              <a:rPr lang="en-US" sz="3397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Uniqueness:</a:t>
            </a:r>
            <a:r>
              <a:rPr lang="en-US" sz="33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Using Python </a:t>
            </a:r>
            <a:r>
              <a:rPr lang="en-US" sz="3397" i="1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set()</a:t>
            </a:r>
            <a:r>
              <a:rPr lang="en-US" sz="33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objects to identify unique participants across diverse segments.</a:t>
            </a:r>
          </a:p>
          <a:p>
            <a:pPr marL="733580" lvl="1" indent="-366790" algn="just">
              <a:lnSpc>
                <a:spcPts val="4722"/>
              </a:lnSpc>
              <a:buFont typeface="Arial"/>
              <a:buChar char="•"/>
            </a:pPr>
            <a:r>
              <a:rPr lang="en-US" sz="3397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Verbal Load:</a:t>
            </a:r>
            <a:r>
              <a:rPr lang="en-US" sz="33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Deep-nested iteration through </a:t>
            </a:r>
            <a:r>
              <a:rPr lang="en-US" sz="3397" i="1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nbest</a:t>
            </a:r>
            <a:r>
              <a:rPr lang="en-US" sz="33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word lists to calculate the total verbal length of sessions.</a:t>
            </a:r>
          </a:p>
          <a:p>
            <a:pPr algn="just">
              <a:lnSpc>
                <a:spcPts val="4722"/>
              </a:lnSpc>
            </a:pPr>
            <a:endParaRPr lang="en-US" sz="3397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722"/>
              </a:lnSpc>
            </a:pPr>
            <a:endParaRPr lang="en-US" sz="3397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978923" y="1321544"/>
            <a:ext cx="10237755" cy="1540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10"/>
              </a:lnSpc>
            </a:pPr>
            <a:r>
              <a:rPr lang="en-US" sz="8721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Feature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12671" y="2763308"/>
            <a:ext cx="14187134" cy="3798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0550" lvl="1" indent="-390275" algn="just">
              <a:lnSpc>
                <a:spcPts val="5025"/>
              </a:lnSpc>
              <a:buFont typeface="Arial"/>
              <a:buChar char="•"/>
            </a:pPr>
            <a:r>
              <a:rPr lang="en-US" sz="3615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Relational Output:</a:t>
            </a:r>
            <a:r>
              <a:rPr lang="en-US" sz="361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Flattening metadata into a tabular CSV for PostgreSQL.</a:t>
            </a:r>
          </a:p>
          <a:p>
            <a:pPr marL="780550" lvl="1" indent="-390275" algn="just">
              <a:lnSpc>
                <a:spcPts val="5025"/>
              </a:lnSpc>
              <a:buFont typeface="Arial"/>
              <a:buChar char="•"/>
            </a:pPr>
            <a:r>
              <a:rPr lang="en-US" sz="3615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Unstructured Output: </a:t>
            </a:r>
            <a:r>
              <a:rPr lang="en-US" sz="361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Isolating heavy text fields (transcripts/summarises) for the MongoDB document store.</a:t>
            </a:r>
          </a:p>
          <a:p>
            <a:pPr marL="780550" lvl="1" indent="-390275" algn="just">
              <a:lnSpc>
                <a:spcPts val="5025"/>
              </a:lnSpc>
              <a:buFont typeface="Arial"/>
              <a:buChar char="•"/>
            </a:pPr>
            <a:r>
              <a:rPr lang="en-US" sz="3615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Code Snippet:</a:t>
            </a:r>
          </a:p>
          <a:p>
            <a:pPr algn="just">
              <a:lnSpc>
                <a:spcPts val="5025"/>
              </a:lnSpc>
            </a:pPr>
            <a:endParaRPr lang="en-US" sz="3615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458264" y="6562270"/>
            <a:ext cx="15801036" cy="1608645"/>
          </a:xfrm>
          <a:custGeom>
            <a:avLst/>
            <a:gdLst/>
            <a:ahLst/>
            <a:cxnLst/>
            <a:rect l="l" t="t" r="r" b="b"/>
            <a:pathLst>
              <a:path w="15801036" h="1608645">
                <a:moveTo>
                  <a:pt x="0" y="0"/>
                </a:moveTo>
                <a:lnTo>
                  <a:pt x="15801036" y="0"/>
                </a:lnTo>
                <a:lnTo>
                  <a:pt x="15801036" y="1608645"/>
                </a:lnTo>
                <a:lnTo>
                  <a:pt x="0" y="1608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371" b="-1937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25122" y="809625"/>
            <a:ext cx="10237755" cy="1540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10"/>
              </a:lnSpc>
            </a:pPr>
            <a:r>
              <a:rPr lang="en-US" sz="8721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Data Bifurcation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464" y="4534008"/>
            <a:ext cx="12320651" cy="5022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356" lvl="1" indent="-350678" algn="just">
              <a:lnSpc>
                <a:spcPts val="4515"/>
              </a:lnSpc>
              <a:buFont typeface="Arial"/>
              <a:buChar char="•"/>
            </a:pPr>
            <a:r>
              <a:rPr lang="en-US" sz="3248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Technology:</a:t>
            </a:r>
            <a:r>
              <a:rPr lang="en-US" sz="324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PostgreSQL hosted on Amazon RDS (eu-north-1).</a:t>
            </a:r>
          </a:p>
          <a:p>
            <a:pPr marL="701356" lvl="1" indent="-350678" algn="just">
              <a:lnSpc>
                <a:spcPts val="4515"/>
              </a:lnSpc>
              <a:buFont typeface="Arial"/>
              <a:buChar char="•"/>
            </a:pPr>
            <a:r>
              <a:rPr lang="en-US" sz="3248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Purpose:</a:t>
            </a:r>
            <a:r>
              <a:rPr lang="en-US" sz="324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Handling structured metrics like city, date, and speaker counts for rapid analytical querying.</a:t>
            </a:r>
          </a:p>
          <a:p>
            <a:pPr marL="701356" lvl="1" indent="-350678" algn="just">
              <a:lnSpc>
                <a:spcPts val="4515"/>
              </a:lnSpc>
              <a:buFont typeface="Arial"/>
              <a:buChar char="•"/>
            </a:pPr>
            <a:r>
              <a:rPr lang="en-US" sz="3248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Architecture Link:</a:t>
            </a:r>
            <a:r>
              <a:rPr lang="en-US" sz="324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As shown in the diagram, this serves as the "Relational Feed" for our application.</a:t>
            </a:r>
          </a:p>
          <a:p>
            <a:pPr algn="just">
              <a:lnSpc>
                <a:spcPts val="4515"/>
              </a:lnSpc>
            </a:pPr>
            <a:endParaRPr lang="en-US" sz="3248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515"/>
              </a:lnSpc>
            </a:pPr>
            <a:endParaRPr lang="en-US" sz="3248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364"/>
              </a:lnSpc>
            </a:pPr>
            <a:endParaRPr lang="en-US" sz="3248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364"/>
              </a:lnSpc>
            </a:pPr>
            <a:endParaRPr lang="en-US" sz="3248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2583008" y="3357213"/>
            <a:ext cx="5704992" cy="6929787"/>
          </a:xfrm>
          <a:custGeom>
            <a:avLst/>
            <a:gdLst/>
            <a:ahLst/>
            <a:cxnLst/>
            <a:rect l="l" t="t" r="r" b="b"/>
            <a:pathLst>
              <a:path w="5704992" h="6929787">
                <a:moveTo>
                  <a:pt x="0" y="0"/>
                </a:moveTo>
                <a:lnTo>
                  <a:pt x="5704992" y="0"/>
                </a:lnTo>
                <a:lnTo>
                  <a:pt x="5704992" y="6929787"/>
                </a:lnTo>
                <a:lnTo>
                  <a:pt x="0" y="6929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036" r="-3295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33226" y="828675"/>
            <a:ext cx="15420007" cy="278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12"/>
              </a:lnSpc>
            </a:pPr>
            <a:r>
              <a:rPr lang="en-US" sz="7866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Managed Relational Storage (Amazon RDS)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97130" y="2291944"/>
            <a:ext cx="13794095" cy="589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08"/>
              </a:lnSpc>
            </a:pPr>
            <a:endParaRPr/>
          </a:p>
          <a:p>
            <a:pPr marL="669289" lvl="1" indent="-334645" algn="just">
              <a:lnSpc>
                <a:spcPts val="4308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Local Storage</a:t>
            </a:r>
            <a:r>
              <a:rPr lang="en-US" sz="30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CSV data is first structured and stored in a local PostgreSQL database</a:t>
            </a:r>
          </a:p>
          <a:p>
            <a:pPr marL="669289" lvl="1" indent="-334645" algn="just">
              <a:lnSpc>
                <a:spcPts val="4308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Database Migration</a:t>
            </a:r>
            <a:r>
              <a:rPr lang="en-US" sz="30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The cleaned and transformed PostgreSQL table is then uploaded to Amazon RDS (PostgreSQL) in the AWS cloud.</a:t>
            </a:r>
          </a:p>
          <a:p>
            <a:pPr marL="669289" lvl="1" indent="-334645" algn="just">
              <a:lnSpc>
                <a:spcPts val="4308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Transfer</a:t>
            </a:r>
            <a:r>
              <a:rPr lang="en-US" sz="30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Python (psycopg2 / database connector) is used to establish a secure connection and transfer structured data to AWS RDS</a:t>
            </a:r>
          </a:p>
          <a:p>
            <a:pPr marL="669289" lvl="1" indent="-334645" algn="just">
              <a:lnSpc>
                <a:spcPts val="4308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Code Snippet:</a:t>
            </a:r>
          </a:p>
          <a:p>
            <a:pPr algn="just">
              <a:lnSpc>
                <a:spcPts val="4308"/>
              </a:lnSpc>
            </a:pPr>
            <a:endParaRPr lang="en-US" sz="3099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algn="just">
              <a:lnSpc>
                <a:spcPts val="4031"/>
              </a:lnSpc>
            </a:pPr>
            <a:endParaRPr lang="en-US" sz="3099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algn="just">
              <a:lnSpc>
                <a:spcPts val="4031"/>
              </a:lnSpc>
            </a:pPr>
            <a:endParaRPr lang="en-US" sz="3099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139385" y="7228043"/>
            <a:ext cx="14317757" cy="1646542"/>
          </a:xfrm>
          <a:custGeom>
            <a:avLst/>
            <a:gdLst/>
            <a:ahLst/>
            <a:cxnLst/>
            <a:rect l="l" t="t" r="r" b="b"/>
            <a:pathLst>
              <a:path w="14317757" h="1646542">
                <a:moveTo>
                  <a:pt x="0" y="0"/>
                </a:moveTo>
                <a:lnTo>
                  <a:pt x="14317758" y="0"/>
                </a:lnTo>
                <a:lnTo>
                  <a:pt x="14317758" y="1646542"/>
                </a:lnTo>
                <a:lnTo>
                  <a:pt x="0" y="1646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19150"/>
            <a:ext cx="16230600" cy="1539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72"/>
              </a:lnSpc>
            </a:pPr>
            <a:r>
              <a:rPr lang="en-US" sz="8766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Automated SQL Ingestion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8637" y="101455"/>
            <a:ext cx="17070727" cy="309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72"/>
              </a:lnSpc>
            </a:pPr>
            <a:r>
              <a:rPr lang="en-US" sz="8766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Document-Store Strategy (MongoDB Atlas)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52205" y="3374002"/>
            <a:ext cx="14268560" cy="726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840" lvl="1" indent="-355920" algn="just">
              <a:lnSpc>
                <a:spcPts val="4582"/>
              </a:lnSpc>
              <a:buFont typeface="Arial"/>
              <a:buChar char="•"/>
            </a:pPr>
            <a:r>
              <a:rPr lang="en-US" sz="3297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Technology</a:t>
            </a:r>
            <a:r>
              <a:rPr lang="en-US" sz="32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MongoDB Atlas.</a:t>
            </a:r>
          </a:p>
          <a:p>
            <a:pPr marL="711840" lvl="1" indent="-355920" algn="just">
              <a:lnSpc>
                <a:spcPts val="4582"/>
              </a:lnSpc>
              <a:buFont typeface="Arial"/>
              <a:buChar char="•"/>
            </a:pPr>
            <a:r>
              <a:rPr lang="en-US" sz="3297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Data Process</a:t>
            </a:r>
            <a:r>
              <a:rPr lang="en-US" sz="32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Python transforms processed CSV data into JSON-like BSON records for cloud ingestion.</a:t>
            </a:r>
          </a:p>
          <a:p>
            <a:pPr marL="711840" lvl="1" indent="-355920" algn="just">
              <a:lnSpc>
                <a:spcPts val="4582"/>
              </a:lnSpc>
              <a:buFont typeface="Arial"/>
              <a:buChar char="•"/>
            </a:pPr>
            <a:r>
              <a:rPr lang="en-US" sz="3297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Schema Design</a:t>
            </a:r>
            <a:r>
              <a:rPr lang="en-US" sz="32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Each meeting is stored as a document containing meeting_id, transcript, and summary.</a:t>
            </a:r>
          </a:p>
          <a:p>
            <a:pPr marL="711840" lvl="1" indent="-355920" algn="just">
              <a:lnSpc>
                <a:spcPts val="4582"/>
              </a:lnSpc>
              <a:buFont typeface="Arial"/>
              <a:buChar char="•"/>
            </a:pPr>
            <a:r>
              <a:rPr lang="en-US" sz="3297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Core Advantage</a:t>
            </a:r>
            <a:r>
              <a:rPr lang="en-US" sz="329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: Flexible schema handles variable-length transcripts without the rigid constraints or "table bloat" of SQL</a:t>
            </a:r>
          </a:p>
          <a:p>
            <a:pPr algn="just">
              <a:lnSpc>
                <a:spcPts val="4730"/>
              </a:lnSpc>
            </a:pPr>
            <a:endParaRPr lang="en-US" sz="3297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169"/>
              </a:lnSpc>
            </a:pPr>
            <a:endParaRPr lang="en-US" sz="3297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169"/>
              </a:lnSpc>
            </a:pPr>
            <a:endParaRPr lang="en-US" sz="3297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169"/>
              </a:lnSpc>
            </a:pPr>
            <a:endParaRPr lang="en-US" sz="3297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169"/>
              </a:lnSpc>
            </a:pPr>
            <a:endParaRPr lang="en-US" sz="3297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169"/>
              </a:lnSpc>
            </a:pPr>
            <a:endParaRPr lang="en-US" sz="3297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63047" y="2698877"/>
            <a:ext cx="13794095" cy="480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08"/>
              </a:lnSpc>
            </a:pPr>
            <a:endParaRPr/>
          </a:p>
          <a:p>
            <a:pPr marL="669289" lvl="1" indent="-334645" algn="just">
              <a:lnSpc>
                <a:spcPts val="4308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Transformation:</a:t>
            </a:r>
            <a:r>
              <a:rPr lang="en-US" sz="30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Converting tabular DataFrames into a list of dictionaries for bulk ingestion.</a:t>
            </a:r>
          </a:p>
          <a:p>
            <a:pPr marL="669289" lvl="1" indent="-334645" algn="just">
              <a:lnSpc>
                <a:spcPts val="4308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Latency Management:</a:t>
            </a:r>
            <a:r>
              <a:rPr lang="en-US" sz="30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Using </a:t>
            </a:r>
            <a:r>
              <a:rPr lang="en-US" sz="3099" i="1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insert_many</a:t>
            </a:r>
            <a:r>
              <a:rPr lang="en-US" sz="30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to minimize API calls during the upload of thousands of transcripts.</a:t>
            </a:r>
          </a:p>
          <a:p>
            <a:pPr marL="669289" lvl="1" indent="-334645" algn="just">
              <a:lnSpc>
                <a:spcPts val="4308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Code Snippet:</a:t>
            </a:r>
          </a:p>
          <a:p>
            <a:pPr algn="just">
              <a:lnSpc>
                <a:spcPts val="4308"/>
              </a:lnSpc>
            </a:pPr>
            <a:endParaRPr lang="en-US" sz="3099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algn="just">
              <a:lnSpc>
                <a:spcPts val="4031"/>
              </a:lnSpc>
            </a:pPr>
            <a:endParaRPr lang="en-US" sz="3099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algn="just">
              <a:lnSpc>
                <a:spcPts val="4031"/>
              </a:lnSpc>
            </a:pPr>
            <a:endParaRPr lang="en-US" sz="3099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663047" y="6405042"/>
            <a:ext cx="13794095" cy="2312853"/>
          </a:xfrm>
          <a:custGeom>
            <a:avLst/>
            <a:gdLst/>
            <a:ahLst/>
            <a:cxnLst/>
            <a:rect l="l" t="t" r="r" b="b"/>
            <a:pathLst>
              <a:path w="13794095" h="2312853">
                <a:moveTo>
                  <a:pt x="0" y="0"/>
                </a:moveTo>
                <a:lnTo>
                  <a:pt x="13794096" y="0"/>
                </a:lnTo>
                <a:lnTo>
                  <a:pt x="13794096" y="2312853"/>
                </a:lnTo>
                <a:lnTo>
                  <a:pt x="0" y="2312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4524" y="508488"/>
            <a:ext cx="15578083" cy="1539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72"/>
              </a:lnSpc>
            </a:pPr>
            <a:r>
              <a:rPr lang="en-US" sz="8766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Scalable NoSQL Data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04524" y="3679739"/>
            <a:ext cx="15854776" cy="434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9274" lvl="1" indent="-384637" algn="just">
              <a:lnSpc>
                <a:spcPts val="4952"/>
              </a:lnSpc>
              <a:buFont typeface="Arial"/>
              <a:buChar char="•"/>
            </a:pPr>
            <a:r>
              <a:rPr lang="en-US" sz="3563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Philosophy: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 unified dashboard that converges data from two different database types into one interface.</a:t>
            </a:r>
          </a:p>
          <a:p>
            <a:pPr marL="769274" lvl="1" indent="-384637" algn="just">
              <a:lnSpc>
                <a:spcPts val="4952"/>
              </a:lnSpc>
              <a:buFont typeface="Arial"/>
              <a:buChar char="•"/>
            </a:pPr>
            <a:r>
              <a:rPr lang="en-US" sz="3563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Connectivity: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Real-time fetching from PostgreSQL (Relational Feed) and MongoDB (NoSQL Feed).</a:t>
            </a:r>
          </a:p>
          <a:p>
            <a:pPr marL="769274" lvl="1" indent="-384637" algn="just">
              <a:lnSpc>
                <a:spcPts val="4952"/>
              </a:lnSpc>
              <a:buFont typeface="Arial"/>
              <a:buChar char="•"/>
            </a:pPr>
            <a:r>
              <a:rPr lang="en-US" sz="3563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Visual: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Page configured in wide mode to allow for side-by-side data exploration.</a:t>
            </a:r>
          </a:p>
          <a:p>
            <a:pPr algn="just">
              <a:lnSpc>
                <a:spcPts val="4952"/>
              </a:lnSpc>
            </a:pPr>
            <a:endParaRPr lang="en-US" sz="3563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04524" y="819150"/>
            <a:ext cx="15578083" cy="1539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72"/>
              </a:lnSpc>
            </a:pPr>
            <a:r>
              <a:rPr lang="en-US" sz="8766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Streamlit UI Development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63047" y="3105576"/>
            <a:ext cx="13794095" cy="4804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08"/>
              </a:lnSpc>
            </a:pPr>
            <a:endParaRPr/>
          </a:p>
          <a:p>
            <a:pPr marL="669289" lvl="1" indent="-334645" algn="just">
              <a:lnSpc>
                <a:spcPts val="4308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Interactivity:</a:t>
            </a:r>
            <a:r>
              <a:rPr lang="en-US" sz="30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Sidebar filters for "City" dynamically re-query the SQL database.</a:t>
            </a:r>
          </a:p>
          <a:p>
            <a:pPr marL="669289" lvl="1" indent="-334645" algn="just">
              <a:lnSpc>
                <a:spcPts val="4308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Visualizations:</a:t>
            </a:r>
            <a:r>
              <a:rPr lang="en-US" sz="30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Using </a:t>
            </a:r>
            <a:r>
              <a:rPr lang="en-US" sz="3099" i="1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Seaborn</a:t>
            </a:r>
            <a:r>
              <a:rPr lang="en-US" sz="30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and </a:t>
            </a:r>
            <a:r>
              <a:rPr lang="en-US" sz="3099" i="1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Matplotlib</a:t>
            </a:r>
            <a:r>
              <a:rPr lang="en-US" sz="30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to render word count trends over time and speaker distributions.</a:t>
            </a:r>
          </a:p>
          <a:p>
            <a:pPr marL="669289" lvl="1" indent="-334645" algn="just">
              <a:lnSpc>
                <a:spcPts val="4308"/>
              </a:lnSpc>
              <a:buFont typeface="Arial"/>
              <a:buChar char="•"/>
            </a:pPr>
            <a:r>
              <a:rPr lang="en-US" sz="3099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Code Snippet:</a:t>
            </a:r>
          </a:p>
          <a:p>
            <a:pPr algn="just">
              <a:lnSpc>
                <a:spcPts val="4308"/>
              </a:lnSpc>
            </a:pPr>
            <a:endParaRPr lang="en-US" sz="3099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algn="just">
              <a:lnSpc>
                <a:spcPts val="4031"/>
              </a:lnSpc>
            </a:pPr>
            <a:endParaRPr lang="en-US" sz="3099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  <a:p>
            <a:pPr algn="just">
              <a:lnSpc>
                <a:spcPts val="4031"/>
              </a:lnSpc>
            </a:pPr>
            <a:endParaRPr lang="en-US" sz="3099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305683" y="6814934"/>
            <a:ext cx="14151460" cy="2105030"/>
          </a:xfrm>
          <a:custGeom>
            <a:avLst/>
            <a:gdLst/>
            <a:ahLst/>
            <a:cxnLst/>
            <a:rect l="l" t="t" r="r" b="b"/>
            <a:pathLst>
              <a:path w="14151460" h="2105030">
                <a:moveTo>
                  <a:pt x="0" y="0"/>
                </a:moveTo>
                <a:lnTo>
                  <a:pt x="14151460" y="0"/>
                </a:lnTo>
                <a:lnTo>
                  <a:pt x="14151460" y="2105029"/>
                </a:lnTo>
                <a:lnTo>
                  <a:pt x="0" y="2105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4524" y="508488"/>
            <a:ext cx="15578083" cy="309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72"/>
              </a:lnSpc>
            </a:pPr>
            <a:r>
              <a:rPr lang="en-US" sz="8766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Dynamic Business Intelligence (BI)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04524" y="3679739"/>
            <a:ext cx="15854776" cy="4381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9273" lvl="1" indent="-384637" algn="just">
              <a:lnSpc>
                <a:spcPts val="4952"/>
              </a:lnSpc>
              <a:buFont typeface="Arial"/>
              <a:buChar char="•"/>
            </a:pPr>
            <a:r>
              <a:rPr lang="en-US" sz="3563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Join Logic: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Using the shared </a:t>
            </a:r>
            <a:r>
              <a:rPr lang="en-US" sz="3563" i="1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meeting_id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to link the SQL-driven meeting list to the NoSQL-driven transcript viewer.</a:t>
            </a:r>
          </a:p>
          <a:p>
            <a:pPr marL="769273" lvl="1" indent="-384637" algn="just">
              <a:lnSpc>
                <a:spcPts val="4952"/>
              </a:lnSpc>
              <a:buFont typeface="Arial"/>
              <a:buChar char="•"/>
            </a:pPr>
            <a:r>
              <a:rPr lang="en-US" sz="3563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Efficiency: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Full transcripts are only loaded into memory when a specific meeting is selected by the user.</a:t>
            </a:r>
          </a:p>
          <a:p>
            <a:pPr marL="769273" lvl="1" indent="-384637" algn="just">
              <a:lnSpc>
                <a:spcPts val="4952"/>
              </a:lnSpc>
              <a:buFont typeface="Arial"/>
              <a:buChar char="•"/>
            </a:pPr>
            <a:r>
              <a:rPr lang="en-US" sz="3563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Logic Snippet: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563" i="1">
                <a:solidFill>
                  <a:srgbClr val="000000"/>
                </a:solidFill>
                <a:latin typeface="TT Interphases Italics"/>
                <a:ea typeface="TT Interphases Italics"/>
                <a:cs typeface="TT Interphases Italics"/>
                <a:sym typeface="TT Interphases Italics"/>
              </a:rPr>
              <a:t>transcript_row = transcripts_df[transcripts_df["meeting_id"] == selected_meeting]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.</a:t>
            </a:r>
          </a:p>
          <a:p>
            <a:pPr algn="just">
              <a:lnSpc>
                <a:spcPts val="4952"/>
              </a:lnSpc>
            </a:pPr>
            <a:endParaRPr lang="en-US" sz="3563">
              <a:solidFill>
                <a:srgbClr val="000000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04524" y="819150"/>
            <a:ext cx="15578083" cy="1539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72"/>
              </a:lnSpc>
            </a:pPr>
            <a:r>
              <a:rPr lang="en-US" sz="8766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Cross-Database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0825" y="2704465"/>
            <a:ext cx="11194266" cy="6267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52"/>
              </a:lnSpc>
            </a:pPr>
            <a:endParaRPr/>
          </a:p>
          <a:p>
            <a:pPr marL="769273" lvl="1" indent="-384637" algn="just">
              <a:lnSpc>
                <a:spcPts val="4952"/>
              </a:lnSpc>
              <a:buFont typeface="Arial"/>
              <a:buChar char="•"/>
            </a:pPr>
            <a:r>
              <a:rPr lang="en-US" sz="3563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Achievements: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Built a scalable, bifurcated pipeline that optimizes storage based on data type.</a:t>
            </a:r>
          </a:p>
          <a:p>
            <a:pPr marL="769273" lvl="1" indent="-384637" algn="just">
              <a:lnSpc>
                <a:spcPts val="4952"/>
              </a:lnSpc>
              <a:buFont typeface="Arial"/>
              <a:buChar char="•"/>
            </a:pPr>
            <a:r>
              <a:rPr lang="en-US" sz="3563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Future Scope: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* LLM Integration: Adding a chatbot to answer questions about specific transcripts in the MongoDB store.</a:t>
            </a:r>
          </a:p>
          <a:p>
            <a:pPr marL="769273" lvl="1" indent="-384637" algn="just">
              <a:lnSpc>
                <a:spcPts val="4952"/>
              </a:lnSpc>
              <a:buFont typeface="Arial"/>
              <a:buChar char="•"/>
            </a:pPr>
            <a:r>
              <a:rPr lang="en-US" sz="3563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Sentiment Analysis:</a:t>
            </a:r>
            <a:r>
              <a:rPr lang="en-US" sz="356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Calculating meeting tone using NLP directly on the ingested text.</a:t>
            </a:r>
          </a:p>
          <a:p>
            <a:pPr marL="769273" lvl="1" indent="-384637" algn="just">
              <a:lnSpc>
                <a:spcPts val="4952"/>
              </a:lnSpc>
              <a:buFont typeface="Arial"/>
              <a:buChar char="•"/>
            </a:pPr>
            <a:r>
              <a:rPr lang="en-US" sz="3563" b="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Visual: </a:t>
            </a:r>
          </a:p>
          <a:p>
            <a:pPr algn="just">
              <a:lnSpc>
                <a:spcPts val="4952"/>
              </a:lnSpc>
            </a:pPr>
            <a:endParaRPr lang="en-US" sz="3563" b="1">
              <a:solidFill>
                <a:srgbClr val="000000"/>
              </a:solidFill>
              <a:latin typeface="TT Interphases Bold"/>
              <a:ea typeface="TT Interphases Bold"/>
              <a:cs typeface="TT Interphases Bold"/>
              <a:sym typeface="TT Interphase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1879243" y="2293645"/>
            <a:ext cx="6408757" cy="7671741"/>
          </a:xfrm>
          <a:custGeom>
            <a:avLst/>
            <a:gdLst/>
            <a:ahLst/>
            <a:cxnLst/>
            <a:rect l="l" t="t" r="r" b="b"/>
            <a:pathLst>
              <a:path w="6408757" h="7671741">
                <a:moveTo>
                  <a:pt x="0" y="0"/>
                </a:moveTo>
                <a:lnTo>
                  <a:pt x="6408757" y="0"/>
                </a:lnTo>
                <a:lnTo>
                  <a:pt x="6408757" y="7671741"/>
                </a:lnTo>
                <a:lnTo>
                  <a:pt x="0" y="7671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943" r="-3076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4524" y="154191"/>
            <a:ext cx="15578083" cy="1539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72"/>
              </a:lnSpc>
            </a:pPr>
            <a:r>
              <a:rPr lang="en-US" sz="8766">
                <a:solidFill>
                  <a:srgbClr val="141619"/>
                </a:solidFill>
                <a:latin typeface="Autograph"/>
                <a:ea typeface="Autograph"/>
                <a:cs typeface="Autograph"/>
                <a:sym typeface="Autograph"/>
              </a:rPr>
              <a:t>Project Summary &amp; Roadmap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6474" y="3325926"/>
            <a:ext cx="15178823" cy="275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7"/>
              </a:lnSpc>
            </a:pPr>
            <a:r>
              <a:rPr lang="en-US" sz="15662">
                <a:solidFill>
                  <a:srgbClr val="000000"/>
                </a:solidFill>
                <a:latin typeface="Autograph"/>
                <a:ea typeface="Autograph"/>
                <a:cs typeface="Autograph"/>
                <a:sym typeface="Autograph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724</Words>
  <Application>Microsoft Office PowerPoint</Application>
  <PresentationFormat>Custom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Autograph</vt:lpstr>
      <vt:lpstr>Arial</vt:lpstr>
      <vt:lpstr>Calibri</vt:lpstr>
      <vt:lpstr>Autograph Bold</vt:lpstr>
      <vt:lpstr>TT Interphases Bold</vt:lpstr>
      <vt:lpstr>TT Interphases</vt:lpstr>
      <vt:lpstr>TT Interphases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Beige Minimalist Organic Presentation</dc:title>
  <dc:creator>p shesha shayana reddy</dc:creator>
  <cp:lastModifiedBy>p shesha shayana reddy</cp:lastModifiedBy>
  <cp:revision>1</cp:revision>
  <dcterms:created xsi:type="dcterms:W3CDTF">2006-08-16T00:00:00Z</dcterms:created>
  <dcterms:modified xsi:type="dcterms:W3CDTF">2026-02-19T22:32:25Z</dcterms:modified>
  <dc:identifier>DAGpQ6pA8YY</dc:identifier>
</cp:coreProperties>
</file>